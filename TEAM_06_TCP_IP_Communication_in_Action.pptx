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8D5E"/>
    <a:srgbClr val="F5F4FF"/>
    <a:srgbClr val="E1F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24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Mariam Blessing Ajao (Team Lead, 1st speaker) opens the presentation. Scenario: opening a secure website. Decorative artwork reused from the Module 2 model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9C8BD-F7A5-5CB5-9BF6-068015D3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1D058-7D3A-E9D4-D32F-9F6F1302E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5FFEF-D603-6DFD-E480-91D22AFC8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Introduction: TCP handles reliable delivery between applications; IP handles addressing and routing. Source: RFC 9293, RFC 791, Cisco Networking Academy.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A688B-18DA-F32F-288C-7847D848B0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564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Mariam: the scenario and the basic journey User, Browser, Network, Web Server,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Mariam. Sources: RFC 1034, RFC 1035, RFC 9110, RFC 8446.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Mariam. The TCP/IP Application layer corresponds mainly to the OSI Application, Presentation and Session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Wisdom. Source: RFC 9293. Port numbers plus IP addresses identify the communication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Wisdom. HTTPS normally uses TCP port 443; HTTP/3 uses QUIC over UDP (RFC 9000).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Beverlyn. Source: RFC 791. 192.168.1.50 is an example private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Beverlyn. Request: user computer, router, ISP, Internet, web server. Response: the reverse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Beverlyn. IP addressing matters for the end-to-end journey; MAC addressing is used for local-link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Richard. Sending device: data moves down the layers, each adding information. Receiving device: each layer removes and processes its information on the way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Fokemg-yalie. Repeated SYNs alone do not identify the exact cause; further investigation is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RFC 9110 (HTTP), RFC 8446 (TLS 1.3), RFC 1034/1035 (DNS), RFC 9293 (TCP), RFC 791 (IP), RFC 9000 (QUIC); Cisco Networking Academy, Introduction to Networking; NIST CSRC.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61A33">
              <a:alpha val="88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407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COMMUNICATION PRESENTATION  /  TEAM 06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744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Communication in Action</a:t>
            </a:r>
            <a:endParaRPr lang="en-US" sz="4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28147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the data when a user opens a secure website, from the browser to the web server and back</a:t>
            </a:r>
            <a:endParaRPr lang="en-US" sz="16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73C91CD-2B86-5FD4-BE8A-9B3249F4D977}"/>
              </a:ext>
            </a:extLst>
          </p:cNvPr>
          <p:cNvSpPr txBox="1"/>
          <p:nvPr/>
        </p:nvSpPr>
        <p:spPr>
          <a:xfrm>
            <a:off x="640080" y="305856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Speakers and responsibilities</a:t>
            </a:r>
            <a:endParaRPr lang="en-US" sz="30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D1A8D429-8E0F-5528-0753-63C544204B04}"/>
              </a:ext>
            </a:extLst>
          </p:cNvPr>
          <p:cNvSpPr/>
          <p:nvPr/>
        </p:nvSpPr>
        <p:spPr>
          <a:xfrm>
            <a:off x="640080" y="3661322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423798E-D6B9-3A9C-B554-A93CEE3CEAF2}"/>
              </a:ext>
            </a:extLst>
          </p:cNvPr>
          <p:cNvGrpSpPr/>
          <p:nvPr/>
        </p:nvGrpSpPr>
        <p:grpSpPr>
          <a:xfrm>
            <a:off x="584094" y="3826662"/>
            <a:ext cx="6828142" cy="2754209"/>
            <a:chOff x="640080" y="1600200"/>
            <a:chExt cx="10881360" cy="4389120"/>
          </a:xfrm>
        </p:grpSpPr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1389475F-CFBA-3066-0813-0D2D9F5FB820}"/>
                </a:ext>
              </a:extLst>
            </p:cNvPr>
            <p:cNvSpPr/>
            <p:nvPr/>
          </p:nvSpPr>
          <p:spPr>
            <a:xfrm>
              <a:off x="640080" y="160020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0A2A52"/>
            </a:solidFill>
            <a:ln w="12700">
              <a:solidFill>
                <a:srgbClr val="163C6B"/>
              </a:solidFill>
              <a:prstDash val="solid"/>
            </a:ln>
          </p:spPr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60489B7D-72F1-2BFC-FBD9-FDBE058930D0}"/>
                </a:ext>
              </a:extLst>
            </p:cNvPr>
            <p:cNvSpPr/>
            <p:nvPr/>
          </p:nvSpPr>
          <p:spPr>
            <a:xfrm>
              <a:off x="868680" y="1773936"/>
              <a:ext cx="384048" cy="384048"/>
            </a:xfrm>
            <a:prstGeom prst="ellipse">
              <a:avLst/>
            </a:prstGeom>
            <a:solidFill>
              <a:srgbClr val="07ADF6"/>
            </a:solidFill>
            <a:ln w="12700">
              <a:solidFill>
                <a:srgbClr val="07ADF6"/>
              </a:solidFill>
              <a:prstDash val="solid"/>
            </a:ln>
          </p:spPr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FAB60FF6-A766-0100-053A-A2374BB8A4D4}"/>
                </a:ext>
              </a:extLst>
            </p:cNvPr>
            <p:cNvSpPr txBox="1"/>
            <p:nvPr/>
          </p:nvSpPr>
          <p:spPr>
            <a:xfrm>
              <a:off x="868680" y="17739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1100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2002A609-37F5-69B0-7888-8BA03EC5A3B3}"/>
                </a:ext>
              </a:extLst>
            </p:cNvPr>
            <p:cNvSpPr txBox="1"/>
            <p:nvPr/>
          </p:nvSpPr>
          <p:spPr>
            <a:xfrm>
              <a:off x="1463040" y="1709928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Mariam Blessing Ajao</a:t>
              </a:r>
              <a:endParaRPr lang="en-US" sz="1400" dirty="0"/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16DFD240-6270-D590-ACA1-4932A74F3379}"/>
                </a:ext>
              </a:extLst>
            </p:cNvPr>
            <p:cNvSpPr txBox="1"/>
            <p:nvPr/>
          </p:nvSpPr>
          <p:spPr>
            <a:xfrm>
              <a:off x="1463040" y="2002536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25" dirty="0">
                  <a:solidFill>
                    <a:srgbClr val="9FD8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Team Lead, 1st speaker</a:t>
              </a:r>
              <a:endParaRPr lang="en-US" sz="1125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444D2B41-FD0E-9740-A28B-4D8252164D09}"/>
                </a:ext>
              </a:extLst>
            </p:cNvPr>
            <p:cNvSpPr txBox="1"/>
            <p:nvPr/>
          </p:nvSpPr>
          <p:spPr>
            <a:xfrm>
              <a:off x="6035040" y="1600200"/>
              <a:ext cx="5212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Introduction + Application layer</a:t>
              </a:r>
              <a:endParaRPr lang="en-US" sz="1200" dirty="0"/>
            </a:p>
          </p:txBody>
        </p:sp>
        <p:sp>
          <p:nvSpPr>
            <p:cNvPr id="46" name="Shape 11">
              <a:extLst>
                <a:ext uri="{FF2B5EF4-FFF2-40B4-BE49-F238E27FC236}">
                  <a16:creationId xmlns:a16="http://schemas.microsoft.com/office/drawing/2014/main" id="{57A8D05A-B2CD-6C20-1AAB-DA0BCFB1E8E7}"/>
                </a:ext>
              </a:extLst>
            </p:cNvPr>
            <p:cNvSpPr/>
            <p:nvPr/>
          </p:nvSpPr>
          <p:spPr>
            <a:xfrm>
              <a:off x="640080" y="251460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0A2A52"/>
            </a:solidFill>
            <a:ln w="12700">
              <a:solidFill>
                <a:srgbClr val="163C6B"/>
              </a:solidFill>
              <a:prstDash val="solid"/>
            </a:ln>
          </p:spPr>
        </p:sp>
        <p:sp>
          <p:nvSpPr>
            <p:cNvPr id="47" name="Shape 12">
              <a:extLst>
                <a:ext uri="{FF2B5EF4-FFF2-40B4-BE49-F238E27FC236}">
                  <a16:creationId xmlns:a16="http://schemas.microsoft.com/office/drawing/2014/main" id="{F343B2FD-2490-8537-8985-CC57DC53AB2E}"/>
                </a:ext>
              </a:extLst>
            </p:cNvPr>
            <p:cNvSpPr/>
            <p:nvPr/>
          </p:nvSpPr>
          <p:spPr>
            <a:xfrm>
              <a:off x="868680" y="2688336"/>
              <a:ext cx="384048" cy="384048"/>
            </a:xfrm>
            <a:prstGeom prst="ellipse">
              <a:avLst/>
            </a:prstGeom>
            <a:solidFill>
              <a:srgbClr val="07ADF6"/>
            </a:solidFill>
            <a:ln w="12700">
              <a:solidFill>
                <a:srgbClr val="07ADF6"/>
              </a:solidFill>
              <a:prstDash val="solid"/>
            </a:ln>
          </p:spPr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46873CFB-DABF-61E3-98F9-BB7E80C1027F}"/>
                </a:ext>
              </a:extLst>
            </p:cNvPr>
            <p:cNvSpPr txBox="1"/>
            <p:nvPr/>
          </p:nvSpPr>
          <p:spPr>
            <a:xfrm>
              <a:off x="868680" y="26883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110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164D3A8C-977E-DBD6-C999-5D8D1A808221}"/>
                </a:ext>
              </a:extLst>
            </p:cNvPr>
            <p:cNvSpPr txBox="1"/>
            <p:nvPr/>
          </p:nvSpPr>
          <p:spPr>
            <a:xfrm>
              <a:off x="1463040" y="2624328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Wisdom Binichiuku Odili</a:t>
              </a:r>
              <a:endParaRPr lang="en-US" sz="1400" dirty="0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EC5A31D6-8F48-65C2-134F-45A08D95726B}"/>
                </a:ext>
              </a:extLst>
            </p:cNvPr>
            <p:cNvSpPr txBox="1"/>
            <p:nvPr/>
          </p:nvSpPr>
          <p:spPr>
            <a:xfrm>
              <a:off x="1463040" y="2916936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25" dirty="0">
                  <a:solidFill>
                    <a:srgbClr val="9FD8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2nd speaker</a:t>
              </a:r>
              <a:endParaRPr lang="en-US" sz="1125" dirty="0"/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F8BD903D-931A-F388-9CB3-673C8EB86405}"/>
                </a:ext>
              </a:extLst>
            </p:cNvPr>
            <p:cNvSpPr txBox="1"/>
            <p:nvPr/>
          </p:nvSpPr>
          <p:spPr>
            <a:xfrm>
              <a:off x="6035040" y="2514600"/>
              <a:ext cx="5212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Transport layer + TCP/UDP: how the connection is established</a:t>
              </a:r>
              <a:endParaRPr lang="en-US" sz="1200" dirty="0"/>
            </a:p>
          </p:txBody>
        </p:sp>
        <p:sp>
          <p:nvSpPr>
            <p:cNvPr id="52" name="Shape 17">
              <a:extLst>
                <a:ext uri="{FF2B5EF4-FFF2-40B4-BE49-F238E27FC236}">
                  <a16:creationId xmlns:a16="http://schemas.microsoft.com/office/drawing/2014/main" id="{67866659-05D5-BB03-8A2A-58A5E4BBE66D}"/>
                </a:ext>
              </a:extLst>
            </p:cNvPr>
            <p:cNvSpPr/>
            <p:nvPr/>
          </p:nvSpPr>
          <p:spPr>
            <a:xfrm>
              <a:off x="640080" y="342900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0A2A52"/>
            </a:solidFill>
            <a:ln w="12700">
              <a:solidFill>
                <a:srgbClr val="163C6B"/>
              </a:solidFill>
              <a:prstDash val="solid"/>
            </a:ln>
          </p:spPr>
        </p:sp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C7AF62B6-8C14-7AFA-FA8B-34AC1F0B9681}"/>
                </a:ext>
              </a:extLst>
            </p:cNvPr>
            <p:cNvSpPr/>
            <p:nvPr/>
          </p:nvSpPr>
          <p:spPr>
            <a:xfrm>
              <a:off x="868680" y="3602736"/>
              <a:ext cx="384048" cy="384048"/>
            </a:xfrm>
            <a:prstGeom prst="ellipse">
              <a:avLst/>
            </a:prstGeom>
            <a:solidFill>
              <a:srgbClr val="07ADF6"/>
            </a:solidFill>
            <a:ln w="12700">
              <a:solidFill>
                <a:srgbClr val="07ADF6"/>
              </a:solidFill>
              <a:prstDash val="solid"/>
            </a:ln>
          </p:spPr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BC76C9D9-E709-3ABF-A780-C3F9E84A8606}"/>
                </a:ext>
              </a:extLst>
            </p:cNvPr>
            <p:cNvSpPr txBox="1"/>
            <p:nvPr/>
          </p:nvSpPr>
          <p:spPr>
            <a:xfrm>
              <a:off x="868680" y="36027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1100" dirty="0"/>
            </a:p>
          </p:txBody>
        </p:sp>
        <p:sp>
          <p:nvSpPr>
            <p:cNvPr id="55" name="Text 20">
              <a:extLst>
                <a:ext uri="{FF2B5EF4-FFF2-40B4-BE49-F238E27FC236}">
                  <a16:creationId xmlns:a16="http://schemas.microsoft.com/office/drawing/2014/main" id="{4D7C5242-A290-092A-C9A9-436212F04211}"/>
                </a:ext>
              </a:extLst>
            </p:cNvPr>
            <p:cNvSpPr txBox="1"/>
            <p:nvPr/>
          </p:nvSpPr>
          <p:spPr>
            <a:xfrm>
              <a:off x="1463040" y="3538728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Beverlyn Ewuradwoa Amanfu</a:t>
              </a:r>
              <a:endParaRPr lang="en-US" sz="1400" dirty="0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CD4FAB17-4308-62F4-3061-33AAC22FCAE9}"/>
                </a:ext>
              </a:extLst>
            </p:cNvPr>
            <p:cNvSpPr txBox="1"/>
            <p:nvPr/>
          </p:nvSpPr>
          <p:spPr>
            <a:xfrm>
              <a:off x="1463040" y="3831336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25" dirty="0">
                  <a:solidFill>
                    <a:srgbClr val="9FD8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3rd speaker</a:t>
              </a:r>
              <a:endParaRPr lang="en-US" sz="1125" dirty="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87C2B4B3-30F4-022F-1B72-EF7F9DC4544E}"/>
                </a:ext>
              </a:extLst>
            </p:cNvPr>
            <p:cNvSpPr txBox="1"/>
            <p:nvPr/>
          </p:nvSpPr>
          <p:spPr>
            <a:xfrm>
              <a:off x="6035040" y="3429000"/>
              <a:ext cx="5212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Internet layer, addressing and network devices</a:t>
              </a:r>
              <a:endParaRPr lang="en-US" sz="1200" dirty="0"/>
            </a:p>
          </p:txBody>
        </p:sp>
        <p:sp>
          <p:nvSpPr>
            <p:cNvPr id="58" name="Shape 23">
              <a:extLst>
                <a:ext uri="{FF2B5EF4-FFF2-40B4-BE49-F238E27FC236}">
                  <a16:creationId xmlns:a16="http://schemas.microsoft.com/office/drawing/2014/main" id="{B21EBC79-D7E5-24C9-A5AB-B4BA5ED26DD6}"/>
                </a:ext>
              </a:extLst>
            </p:cNvPr>
            <p:cNvSpPr/>
            <p:nvPr/>
          </p:nvSpPr>
          <p:spPr>
            <a:xfrm>
              <a:off x="640080" y="434340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0A2A52"/>
            </a:solidFill>
            <a:ln w="12700">
              <a:solidFill>
                <a:srgbClr val="163C6B"/>
              </a:solidFill>
              <a:prstDash val="solid"/>
            </a:ln>
          </p:spPr>
        </p:sp>
        <p:sp>
          <p:nvSpPr>
            <p:cNvPr id="59" name="Shape 24">
              <a:extLst>
                <a:ext uri="{FF2B5EF4-FFF2-40B4-BE49-F238E27FC236}">
                  <a16:creationId xmlns:a16="http://schemas.microsoft.com/office/drawing/2014/main" id="{C2160766-2F3E-B276-70A8-B9473FDF1C24}"/>
                </a:ext>
              </a:extLst>
            </p:cNvPr>
            <p:cNvSpPr/>
            <p:nvPr/>
          </p:nvSpPr>
          <p:spPr>
            <a:xfrm>
              <a:off x="868680" y="4517136"/>
              <a:ext cx="384048" cy="384048"/>
            </a:xfrm>
            <a:prstGeom prst="ellipse">
              <a:avLst/>
            </a:prstGeom>
            <a:solidFill>
              <a:srgbClr val="07ADF6"/>
            </a:solidFill>
            <a:ln w="12700">
              <a:solidFill>
                <a:srgbClr val="07ADF6"/>
              </a:solidFill>
              <a:prstDash val="solid"/>
            </a:ln>
          </p:spPr>
        </p:sp>
        <p:sp>
          <p:nvSpPr>
            <p:cNvPr id="60" name="Text 25">
              <a:extLst>
                <a:ext uri="{FF2B5EF4-FFF2-40B4-BE49-F238E27FC236}">
                  <a16:creationId xmlns:a16="http://schemas.microsoft.com/office/drawing/2014/main" id="{61CFF9E4-0D8F-5933-53DF-F75AFD36848C}"/>
                </a:ext>
              </a:extLst>
            </p:cNvPr>
            <p:cNvSpPr txBox="1"/>
            <p:nvPr/>
          </p:nvSpPr>
          <p:spPr>
            <a:xfrm>
              <a:off x="868680" y="45171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</a:t>
              </a:r>
              <a:endParaRPr lang="en-US" sz="1100" dirty="0"/>
            </a:p>
          </p:txBody>
        </p:sp>
        <p:sp>
          <p:nvSpPr>
            <p:cNvPr id="61" name="Text 26">
              <a:extLst>
                <a:ext uri="{FF2B5EF4-FFF2-40B4-BE49-F238E27FC236}">
                  <a16:creationId xmlns:a16="http://schemas.microsoft.com/office/drawing/2014/main" id="{2CC4C6EE-88FA-CC3D-D966-42A509779829}"/>
                </a:ext>
              </a:extLst>
            </p:cNvPr>
            <p:cNvSpPr txBox="1"/>
            <p:nvPr/>
          </p:nvSpPr>
          <p:spPr>
            <a:xfrm>
              <a:off x="1463040" y="4453128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Richard Inyang</a:t>
              </a:r>
              <a:endParaRPr lang="en-US" sz="1400" dirty="0"/>
            </a:p>
          </p:txBody>
        </p:sp>
        <p:sp>
          <p:nvSpPr>
            <p:cNvPr id="62" name="Text 27">
              <a:extLst>
                <a:ext uri="{FF2B5EF4-FFF2-40B4-BE49-F238E27FC236}">
                  <a16:creationId xmlns:a16="http://schemas.microsoft.com/office/drawing/2014/main" id="{D67200BA-3C03-5619-694B-F8E6A5637BF1}"/>
                </a:ext>
              </a:extLst>
            </p:cNvPr>
            <p:cNvSpPr txBox="1"/>
            <p:nvPr/>
          </p:nvSpPr>
          <p:spPr>
            <a:xfrm>
              <a:off x="1463040" y="4745736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25" dirty="0">
                  <a:solidFill>
                    <a:srgbClr val="9FD8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4th speaker</a:t>
              </a:r>
              <a:endParaRPr lang="en-US" sz="1125" dirty="0"/>
            </a:p>
          </p:txBody>
        </p:sp>
        <p:sp>
          <p:nvSpPr>
            <p:cNvPr id="63" name="Text 28">
              <a:extLst>
                <a:ext uri="{FF2B5EF4-FFF2-40B4-BE49-F238E27FC236}">
                  <a16:creationId xmlns:a16="http://schemas.microsoft.com/office/drawing/2014/main" id="{1E7FFA95-0906-893C-5B38-14E5593004FE}"/>
                </a:ext>
              </a:extLst>
            </p:cNvPr>
            <p:cNvSpPr txBox="1"/>
            <p:nvPr/>
          </p:nvSpPr>
          <p:spPr>
            <a:xfrm>
              <a:off x="6035040" y="4343400"/>
              <a:ext cx="5212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Encapsulation, decapsulation and the OSI mapping</a:t>
              </a:r>
              <a:endParaRPr lang="en-US" sz="1200" dirty="0"/>
            </a:p>
          </p:txBody>
        </p:sp>
        <p:sp>
          <p:nvSpPr>
            <p:cNvPr id="64" name="Shape 29">
              <a:extLst>
                <a:ext uri="{FF2B5EF4-FFF2-40B4-BE49-F238E27FC236}">
                  <a16:creationId xmlns:a16="http://schemas.microsoft.com/office/drawing/2014/main" id="{F0E23D87-B089-ADC5-0F8E-406F08A67C71}"/>
                </a:ext>
              </a:extLst>
            </p:cNvPr>
            <p:cNvSpPr/>
            <p:nvPr/>
          </p:nvSpPr>
          <p:spPr>
            <a:xfrm>
              <a:off x="640080" y="525780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0A2A52"/>
            </a:solidFill>
            <a:ln w="12700">
              <a:solidFill>
                <a:srgbClr val="163C6B"/>
              </a:solidFill>
              <a:prstDash val="solid"/>
            </a:ln>
          </p:spPr>
        </p:sp>
        <p:sp>
          <p:nvSpPr>
            <p:cNvPr id="65" name="Shape 30">
              <a:extLst>
                <a:ext uri="{FF2B5EF4-FFF2-40B4-BE49-F238E27FC236}">
                  <a16:creationId xmlns:a16="http://schemas.microsoft.com/office/drawing/2014/main" id="{C3349B04-1EE7-EB67-2F24-64FC76A87B9F}"/>
                </a:ext>
              </a:extLst>
            </p:cNvPr>
            <p:cNvSpPr/>
            <p:nvPr/>
          </p:nvSpPr>
          <p:spPr>
            <a:xfrm>
              <a:off x="868680" y="5431536"/>
              <a:ext cx="384048" cy="384048"/>
            </a:xfrm>
            <a:prstGeom prst="ellipse">
              <a:avLst/>
            </a:prstGeom>
            <a:solidFill>
              <a:srgbClr val="07ADF6"/>
            </a:solidFill>
            <a:ln w="12700">
              <a:solidFill>
                <a:srgbClr val="07ADF6"/>
              </a:solidFill>
              <a:prstDash val="solid"/>
            </a:ln>
          </p:spPr>
        </p:sp>
        <p:sp>
          <p:nvSpPr>
            <p:cNvPr id="66" name="Text 31">
              <a:extLst>
                <a:ext uri="{FF2B5EF4-FFF2-40B4-BE49-F238E27FC236}">
                  <a16:creationId xmlns:a16="http://schemas.microsoft.com/office/drawing/2014/main" id="{0C058ABB-505F-8969-D364-7EB17A7EEE83}"/>
                </a:ext>
              </a:extLst>
            </p:cNvPr>
            <p:cNvSpPr txBox="1"/>
            <p:nvPr/>
          </p:nvSpPr>
          <p:spPr>
            <a:xfrm>
              <a:off x="868680" y="543153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</a:t>
              </a:r>
              <a:endParaRPr lang="en-US" sz="1100" dirty="0"/>
            </a:p>
          </p:txBody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3EB743E2-7D57-8BE4-64F8-96E431C96E54}"/>
                </a:ext>
              </a:extLst>
            </p:cNvPr>
            <p:cNvSpPr txBox="1"/>
            <p:nvPr/>
          </p:nvSpPr>
          <p:spPr>
            <a:xfrm>
              <a:off x="1463040" y="5367528"/>
              <a:ext cx="4206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Fokemg-yalie Brisco Elias</a:t>
              </a:r>
              <a:endParaRPr lang="en-US" sz="1400" dirty="0"/>
            </a:p>
          </p:txBody>
        </p:sp>
        <p:sp>
          <p:nvSpPr>
            <p:cNvPr id="68" name="Text 33">
              <a:extLst>
                <a:ext uri="{FF2B5EF4-FFF2-40B4-BE49-F238E27FC236}">
                  <a16:creationId xmlns:a16="http://schemas.microsoft.com/office/drawing/2014/main" id="{05564D7C-564D-5612-FB48-034765F33116}"/>
                </a:ext>
              </a:extLst>
            </p:cNvPr>
            <p:cNvSpPr txBox="1"/>
            <p:nvPr/>
          </p:nvSpPr>
          <p:spPr>
            <a:xfrm>
              <a:off x="1463040" y="5660136"/>
              <a:ext cx="42062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25" dirty="0">
                  <a:solidFill>
                    <a:srgbClr val="9FD8F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5th speaker</a:t>
              </a:r>
              <a:endParaRPr lang="en-US" sz="1125" dirty="0"/>
            </a:p>
          </p:txBody>
        </p:sp>
        <p:sp>
          <p:nvSpPr>
            <p:cNvPr id="69" name="Text 34">
              <a:extLst>
                <a:ext uri="{FF2B5EF4-FFF2-40B4-BE49-F238E27FC236}">
                  <a16:creationId xmlns:a16="http://schemas.microsoft.com/office/drawing/2014/main" id="{9B0AB289-3883-35F7-B171-254FAFFC1D69}"/>
                </a:ext>
              </a:extLst>
            </p:cNvPr>
            <p:cNvSpPr txBox="1"/>
            <p:nvPr/>
          </p:nvSpPr>
          <p:spPr>
            <a:xfrm>
              <a:off x="6035040" y="5257800"/>
              <a:ext cx="521208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Troubleshooting process</a:t>
              </a:r>
              <a:endParaRPr lang="en-US" sz="1200" dirty="0"/>
            </a:p>
          </p:txBody>
        </p:sp>
      </p:grpSp>
      <p:sp>
        <p:nvSpPr>
          <p:cNvPr id="9" name="Text 4">
            <a:extLst>
              <a:ext uri="{FF2B5EF4-FFF2-40B4-BE49-F238E27FC236}">
                <a16:creationId xmlns:a16="http://schemas.microsoft.com/office/drawing/2014/main" id="{7DCC4676-34F9-02AA-E71A-0EE2ED91E9B8}"/>
              </a:ext>
            </a:extLst>
          </p:cNvPr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1979E-83AA-3ECB-BD1F-D7EF09C4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6EEFA7-40D2-0690-E77E-2BB21275B3C1}"/>
              </a:ext>
            </a:extLst>
          </p:cNvPr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4D0BA3-766A-D1DA-C4DB-7ED7DEA040B5}"/>
              </a:ext>
            </a:extLst>
          </p:cNvPr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TCP/IP model and its four layers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6B6F0C-2347-C67E-EBA3-AA84FCFC9287}"/>
              </a:ext>
            </a:extLst>
          </p:cNvPr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4E3808-75A7-AA63-2D06-AF0AD8617943}"/>
              </a:ext>
            </a:extLst>
          </p:cNvPr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753D09-609C-3837-05A2-137EA739D312}"/>
              </a:ext>
            </a:extLst>
          </p:cNvPr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75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13A355E-7650-31A0-DE6F-30F58EEC924D}"/>
              </a:ext>
            </a:extLst>
          </p:cNvPr>
          <p:cNvSpPr txBox="1"/>
          <p:nvPr/>
        </p:nvSpPr>
        <p:spPr>
          <a:xfrm>
            <a:off x="45720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framework that explains how data moves between devices. Each layer has one job.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10DC678-D42E-C6D0-D256-693A77A4646E}"/>
              </a:ext>
            </a:extLst>
          </p:cNvPr>
          <p:cNvSpPr txBox="1"/>
          <p:nvPr/>
        </p:nvSpPr>
        <p:spPr>
          <a:xfrm>
            <a:off x="822960" y="61036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has four layers; the OSI model has seven.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172E72-A9FF-0732-009A-EC6206A10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8" y="1539900"/>
            <a:ext cx="5788862" cy="476729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37DEBC9-E3AA-FE07-88E6-9A144BA1103A}"/>
              </a:ext>
            </a:extLst>
          </p:cNvPr>
          <p:cNvCxnSpPr>
            <a:cxnSpLocks/>
          </p:cNvCxnSpPr>
          <p:nvPr/>
        </p:nvCxnSpPr>
        <p:spPr>
          <a:xfrm>
            <a:off x="2253996" y="4000500"/>
            <a:ext cx="158496" cy="0"/>
          </a:xfrm>
          <a:prstGeom prst="straightConnector1">
            <a:avLst/>
          </a:prstGeom>
          <a:ln>
            <a:solidFill>
              <a:srgbClr val="B18D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153AFF-1264-550B-BDC6-EEF18AC25868}"/>
              </a:ext>
            </a:extLst>
          </p:cNvPr>
          <p:cNvCxnSpPr>
            <a:cxnSpLocks/>
          </p:cNvCxnSpPr>
          <p:nvPr/>
        </p:nvCxnSpPr>
        <p:spPr>
          <a:xfrm>
            <a:off x="2260092" y="4585716"/>
            <a:ext cx="158496" cy="0"/>
          </a:xfrm>
          <a:prstGeom prst="straightConnector1">
            <a:avLst/>
          </a:prstGeom>
          <a:ln>
            <a:solidFill>
              <a:srgbClr val="B18D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3D30433E-A81B-B951-0F85-8076C3E6DB95}"/>
              </a:ext>
            </a:extLst>
          </p:cNvPr>
          <p:cNvSpPr/>
          <p:nvPr/>
        </p:nvSpPr>
        <p:spPr>
          <a:xfrm>
            <a:off x="2258568" y="2177796"/>
            <a:ext cx="146304" cy="1380740"/>
          </a:xfrm>
          <a:prstGeom prst="rightBrace">
            <a:avLst/>
          </a:prstGeom>
          <a:ln>
            <a:solidFill>
              <a:srgbClr val="B18D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B13CA5B2-B5D0-A7AE-BA54-D7A20E8F0DE6}"/>
              </a:ext>
            </a:extLst>
          </p:cNvPr>
          <p:cNvSpPr/>
          <p:nvPr/>
        </p:nvSpPr>
        <p:spPr>
          <a:xfrm>
            <a:off x="2258568" y="4992624"/>
            <a:ext cx="146304" cy="750928"/>
          </a:xfrm>
          <a:prstGeom prst="rightBrace">
            <a:avLst/>
          </a:prstGeom>
          <a:ln>
            <a:solidFill>
              <a:srgbClr val="B18D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77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opening a secure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75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2588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types https://www.icdfa.edu.ng in the browser and presses Enter.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URL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the address in the browser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95728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3288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URL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32888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interprets the address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8536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25696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lookup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25696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name becomes an IP address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1344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18504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connect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handshake to port 443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74152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request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TLS-protected HTTP request is sent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6960" y="2011680"/>
            <a:ext cx="1691640" cy="21031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10412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10104120" y="2697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0412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replies along the reverse path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526280"/>
            <a:ext cx="11018520" cy="1097280"/>
          </a:xfrm>
          <a:prstGeom prst="roundRect">
            <a:avLst>
              <a:gd name="adj" fmla="val 6667"/>
            </a:avLst>
          </a:prstGeom>
          <a:solidFill>
            <a:srgbClr val="DDF4FD"/>
          </a:solidFill>
          <a:ln w="12700">
            <a:solidFill>
              <a:srgbClr val="B5E3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encapsulated as it moves down the layers on the client, and decapsulated as it moves up the layers at the web server.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layer: how the communication starts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75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finding the IP address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30936" y="20116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checks its local DNS cache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" y="265176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needed, a query goes to a DNS resolver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" y="329184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returns the IP address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" y="393192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uses it to contact the web server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" y="47091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DDF4FD"/>
          </a:solidFill>
          <a:ln w="12700">
            <a:solidFill>
              <a:srgbClr val="B5E3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754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phone contacts: select a name and the phone finds the number. DNS does this for website names.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053328" y="1554480"/>
            <a:ext cx="0" cy="4206240"/>
          </a:xfrm>
          <a:prstGeom prst="line">
            <a:avLst/>
          </a:prstGeom>
          <a:noFill/>
          <a:ln w="12700">
            <a:solidFill>
              <a:srgbClr val="D8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 HTTP protected by TLS</a:t>
            </a:r>
            <a:endParaRPr lang="en-US" sz="1875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1874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carries web content between browser and server. TLS protects the channel.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6492240" y="25603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stop others simply reading the traffic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6492240" y="36118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detect unauthorised changes to data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6492240" y="4663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the browser verify the server’s identity</a:t>
            </a:r>
            <a:endParaRPr lang="en-US" sz="1275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DNS, HTTP and HTTPS belong to the TCP/IP Application layer.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layer: protocols and the OSI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75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128248" cy="22677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0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Name System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 the IP address of a domain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Hypertext Transfer Protocol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Transfers web content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Hypertext Transfer Protocol Secure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Protects web communication using TLS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617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108960" y="4846320"/>
            <a:ext cx="365760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66160" y="4160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4919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services to applications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4160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919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representation, encryption, compression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52560" y="416052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4297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2354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4919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Establishes, manages and ends sessions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functions sit near OSI Presentation/Session, though modern stacks do not map one-to-one.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layer: the TCP three-way handshake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1097280" y="1508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browser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965960"/>
            <a:ext cx="0" cy="3017520"/>
          </a:xfrm>
          <a:prstGeom prst="line">
            <a:avLst/>
          </a:prstGeom>
          <a:noFill/>
          <a:ln w="19050">
            <a:solidFill>
              <a:srgbClr val="D8E4E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937760" y="15087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965960"/>
            <a:ext cx="0" cy="3017520"/>
          </a:xfrm>
          <a:prstGeom prst="line">
            <a:avLst/>
          </a:prstGeom>
          <a:noFill/>
          <a:ln w="19050">
            <a:solidFill>
              <a:srgbClr val="D8E4E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2103120" y="2057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03120" y="2514600"/>
            <a:ext cx="2926080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280160" y="2606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asks to connect</a:t>
            </a:r>
            <a:endParaRPr lang="en-US" sz="1125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880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SYN-ACK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flipH="1">
            <a:off x="2103120" y="3337560"/>
            <a:ext cx="292608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280160" y="3429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acknowledges, sends its own SYN</a:t>
            </a:r>
            <a:endParaRPr lang="en-US" sz="1125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703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103120" y="4160520"/>
            <a:ext cx="2926080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280160" y="4251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acknowledges: connection established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DDF4FD"/>
          </a:solidFill>
          <a:ln w="12700">
            <a:solidFill>
              <a:srgbClr val="B5E3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52120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handshake, HTTPS/TLS communication can begin.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89520" y="15087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port: TCP 443</a:t>
            </a:r>
            <a:endParaRPr lang="en-US" sz="1425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HTTPS service on the server</a:t>
            </a:r>
            <a:endParaRPr lang="en-US" sz="1225" dirty="0"/>
          </a:p>
        </p:txBody>
      </p:sp>
      <p:sp>
        <p:nvSpPr>
          <p:cNvPr id="27" name="Shape 25"/>
          <p:cNvSpPr/>
          <p:nvPr/>
        </p:nvSpPr>
        <p:spPr>
          <a:xfrm>
            <a:off x="7589520" y="292608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port: ephemeral</a:t>
            </a:r>
            <a:endParaRPr lang="en-US" sz="1425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429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port chosen by the client’s operating system</a:t>
            </a:r>
            <a:endParaRPr lang="en-US" sz="1225" dirty="0"/>
          </a:p>
        </p:txBody>
      </p:sp>
      <p:sp>
        <p:nvSpPr>
          <p:cNvPr id="30" name="Shape 28"/>
          <p:cNvSpPr/>
          <p:nvPr/>
        </p:nvSpPr>
        <p:spPr>
          <a:xfrm>
            <a:off x="7589520" y="43434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1812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425" dirty="0"/>
          </a:p>
        </p:txBody>
      </p:sp>
      <p:sp>
        <p:nvSpPr>
          <p:cNvPr id="32" name="Text 30"/>
          <p:cNvSpPr txBox="1"/>
          <p:nvPr/>
        </p:nvSpPr>
        <p:spPr>
          <a:xfrm>
            <a:off x="7818120" y="4846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numbers, acknowledgements and retransmission keep data complete and in order</a:t>
            </a:r>
            <a:endParaRPr lang="en-US" sz="12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compared with UDP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7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128248" cy="3886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UDP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Connection-oriented; uses a handshake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Connectionless; no TCP-style handshake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Acknowledgements, retransmission and ordered delivery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TCP-style guaranteed delivery or ordering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/ overhead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overhead from connection and reliability mechanisms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overhead; suits small or time-sensitive traffic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uses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HTTPS over TCP, file transfer, email protocols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queries, streaming, real-time apps, HTTP/3 via QUIC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is not simply a faster TCP. It is a different service model.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layer: addressing, routing and devices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75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630936" y="196596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IPv4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359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decimal numbers, e.g. 192.168.1.50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" y="2898648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9900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 with colons, e.g. 2002:db8::1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" y="383133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/ public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245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inside local networks; public is routable online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" y="476402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8554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→ destination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572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Sender’s IP to the web server’s IP, found through DNS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53328" y="1554480"/>
            <a:ext cx="0" cy="4206240"/>
          </a:xfrm>
          <a:prstGeom prst="line">
            <a:avLst/>
          </a:prstGeom>
          <a:noFill/>
          <a:ln w="12700">
            <a:solidFill>
              <a:srgbClr val="D8E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devices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492240" y="196596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2514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destination IP and forwards packets between networks</a:t>
            </a:r>
            <a:endParaRPr lang="en-US" sz="1225" dirty="0"/>
          </a:p>
        </p:txBody>
      </p:sp>
      <p:sp>
        <p:nvSpPr>
          <p:cNvPr id="25" name="Shape 23"/>
          <p:cNvSpPr/>
          <p:nvPr/>
        </p:nvSpPr>
        <p:spPr>
          <a:xfrm>
            <a:off x="9098280" y="196596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62872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25146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devices inside a local network</a:t>
            </a:r>
            <a:endParaRPr lang="en-US" sz="1225" dirty="0"/>
          </a:p>
        </p:txBody>
      </p:sp>
      <p:sp>
        <p:nvSpPr>
          <p:cNvPr id="28" name="Shape 26"/>
          <p:cNvSpPr/>
          <p:nvPr/>
        </p:nvSpPr>
        <p:spPr>
          <a:xfrm>
            <a:off x="6492240" y="388620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56832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access point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656832" y="4434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wireless access to the local network</a:t>
            </a:r>
            <a:endParaRPr lang="en-US" sz="1225" dirty="0"/>
          </a:p>
        </p:txBody>
      </p:sp>
      <p:sp>
        <p:nvSpPr>
          <p:cNvPr id="31" name="Shape 29"/>
          <p:cNvSpPr/>
          <p:nvPr/>
        </p:nvSpPr>
        <p:spPr>
          <a:xfrm>
            <a:off x="9098280" y="388620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62872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262872" y="44348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25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traffic from the local network to the wider Internet</a:t>
            </a:r>
            <a:endParaRPr lang="en-US" sz="12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journey: client to web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75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48256" y="2148840"/>
            <a:ext cx="265176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50008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50008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AP / switch</a:t>
            </a:r>
            <a:endParaRPr lang="en-US" sz="1275" dirty="0"/>
          </a:p>
        </p:txBody>
      </p:sp>
      <p:sp>
        <p:nvSpPr>
          <p:cNvPr id="14" name="Text 12"/>
          <p:cNvSpPr txBox="1"/>
          <p:nvPr/>
        </p:nvSpPr>
        <p:spPr>
          <a:xfrm>
            <a:off x="2350008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41064" y="2148840"/>
            <a:ext cx="265176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2816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42816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4242816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 by 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33872" y="2148840"/>
            <a:ext cx="265176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35624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35624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</a:t>
            </a:r>
            <a:endParaRPr lang="en-US" sz="1275" dirty="0"/>
          </a:p>
        </p:txBody>
      </p:sp>
      <p:sp>
        <p:nvSpPr>
          <p:cNvPr id="22" name="Text 20"/>
          <p:cNvSpPr txBox="1"/>
          <p:nvPr/>
        </p:nvSpPr>
        <p:spPr>
          <a:xfrm>
            <a:off x="6135624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network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2148840"/>
            <a:ext cx="265176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28432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28432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routers</a:t>
            </a:r>
            <a:endParaRPr lang="en-US" sz="1275" dirty="0"/>
          </a:p>
        </p:txBody>
      </p:sp>
      <p:sp>
        <p:nvSpPr>
          <p:cNvPr id="26" name="Text 24"/>
          <p:cNvSpPr txBox="1"/>
          <p:nvPr/>
        </p:nvSpPr>
        <p:spPr>
          <a:xfrm>
            <a:off x="8028432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routing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19488" y="2148840"/>
            <a:ext cx="265176" cy="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16916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275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: 443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275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: 443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2048256" y="3703320"/>
            <a:ext cx="26517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350008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50008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routers</a:t>
            </a:r>
            <a:endParaRPr lang="en-US" sz="1275" dirty="0"/>
          </a:p>
        </p:txBody>
      </p:sp>
      <p:sp>
        <p:nvSpPr>
          <p:cNvPr id="38" name="Text 36"/>
          <p:cNvSpPr txBox="1"/>
          <p:nvPr/>
        </p:nvSpPr>
        <p:spPr>
          <a:xfrm>
            <a:off x="2350008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routing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H="1">
            <a:off x="3941064" y="3703320"/>
            <a:ext cx="26517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42816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42816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</a:t>
            </a:r>
            <a:endParaRPr lang="en-US" sz="1275" dirty="0"/>
          </a:p>
        </p:txBody>
      </p:sp>
      <p:sp>
        <p:nvSpPr>
          <p:cNvPr id="42" name="Text 40"/>
          <p:cNvSpPr txBox="1"/>
          <p:nvPr/>
        </p:nvSpPr>
        <p:spPr>
          <a:xfrm>
            <a:off x="4242816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network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flipH="1">
            <a:off x="5833872" y="3703320"/>
            <a:ext cx="26517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35624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35624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275" dirty="0"/>
          </a:p>
        </p:txBody>
      </p:sp>
      <p:sp>
        <p:nvSpPr>
          <p:cNvPr id="46" name="Text 44"/>
          <p:cNvSpPr txBox="1"/>
          <p:nvPr/>
        </p:nvSpPr>
        <p:spPr>
          <a:xfrm>
            <a:off x="6135624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Forwards by IP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 flipH="1">
            <a:off x="7726680" y="3703320"/>
            <a:ext cx="26517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028432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028432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AP / switch</a:t>
            </a:r>
            <a:endParaRPr lang="en-US" sz="1275" dirty="0"/>
          </a:p>
        </p:txBody>
      </p:sp>
      <p:sp>
        <p:nvSpPr>
          <p:cNvPr id="50" name="Text 48"/>
          <p:cNvSpPr txBox="1"/>
          <p:nvPr/>
        </p:nvSpPr>
        <p:spPr>
          <a:xfrm>
            <a:off x="8028432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network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 flipH="1">
            <a:off x="9619488" y="3703320"/>
            <a:ext cx="26517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9921240" y="3246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21240" y="3383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</a:t>
            </a:r>
            <a:endParaRPr lang="en-US" sz="1275" dirty="0"/>
          </a:p>
        </p:txBody>
      </p:sp>
      <p:sp>
        <p:nvSpPr>
          <p:cNvPr id="54" name="Text 52"/>
          <p:cNvSpPr txBox="1"/>
          <p:nvPr/>
        </p:nvSpPr>
        <p:spPr>
          <a:xfrm>
            <a:off x="9921240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52628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DDF4FD"/>
          </a:solidFill>
          <a:ln w="12700">
            <a:solidFill>
              <a:srgbClr val="B5E3F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080" y="45262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router reads the destination IP and forwards the packet. The response follows the same path back and is decapsulated at the user’s device.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packet may pass through several routers before reaching the web server.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 vs MAC address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7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128248" cy="373075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2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Physical address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 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Access layer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the network location of a host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a network interface on the local link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192.168.1.50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A1:B4:C5:DD:C1:3E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 between networks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326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network / frame delivery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 = where the device is on the network. MAC address = which interface is addressed on the local link.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view: encapsulation and decapsulation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device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57032" y="137160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57032" y="1371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0116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011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7032" y="20116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9912" y="20116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811512" y="2011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segment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57032" y="288036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912" y="2880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2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segment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packet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57032" y="374904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39912" y="3749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811512" y="3749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packet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6177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617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4617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57032" y="46177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39912" y="46177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Access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811512" y="4617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1783080"/>
            <a:ext cx="0" cy="22860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286000" y="260604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286000" y="347472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0" y="434340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286000" y="521208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9902952" y="521208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9902952" y="260604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9902952" y="347472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9902952" y="4343400"/>
            <a:ext cx="0" cy="27432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V="1">
            <a:off x="9902952" y="1783080"/>
            <a:ext cx="0" cy="228600"/>
          </a:xfrm>
          <a:prstGeom prst="line">
            <a:avLst/>
          </a:prstGeom>
          <a:noFill/>
          <a:ln w="25400">
            <a:solidFill>
              <a:srgbClr val="07ADF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40080" y="5486400"/>
            <a:ext cx="10908792" cy="384048"/>
          </a:xfrm>
          <a:prstGeom prst="roundRect">
            <a:avLst>
              <a:gd name="adj" fmla="val 19048"/>
            </a:avLst>
          </a:prstGeom>
          <a:solidFill>
            <a:srgbClr val="DDF4FD"/>
          </a:solidFill>
          <a:ln w="12700">
            <a:solidFill>
              <a:srgbClr val="B5E3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486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11293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11293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added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153912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Decapsulation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153912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removed</a:t>
            </a:r>
            <a:endParaRPr lang="en-US" sz="115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54348335-A4B1-7665-2BF8-44318BAB1728}"/>
              </a:ext>
            </a:extLst>
          </p:cNvPr>
          <p:cNvSpPr txBox="1"/>
          <p:nvPr/>
        </p:nvSpPr>
        <p:spPr>
          <a:xfrm>
            <a:off x="4121047" y="4063482"/>
            <a:ext cx="146303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adds the information needed to deliver the data.</a:t>
            </a:r>
            <a:endParaRPr lang="en-US" sz="1350" dirty="0"/>
          </a:p>
        </p:txBody>
      </p:sp>
      <p:sp>
        <p:nvSpPr>
          <p:cNvPr id="52" name="Text 36">
            <a:extLst>
              <a:ext uri="{FF2B5EF4-FFF2-40B4-BE49-F238E27FC236}">
                <a16:creationId xmlns:a16="http://schemas.microsoft.com/office/drawing/2014/main" id="{574BD7F5-7617-8729-9D36-7FB27415C7D8}"/>
              </a:ext>
            </a:extLst>
          </p:cNvPr>
          <p:cNvSpPr txBox="1"/>
          <p:nvPr/>
        </p:nvSpPr>
        <p:spPr>
          <a:xfrm>
            <a:off x="6354804" y="40462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50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removes and processes its information, until the web server gets the HTTPS request.</a:t>
            </a:r>
            <a:endParaRPr lang="en-US" sz="13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BD5206CF-8A5A-23B6-E8AB-6A4CDF1E819E}"/>
              </a:ext>
            </a:extLst>
          </p:cNvPr>
          <p:cNvSpPr txBox="1"/>
          <p:nvPr/>
        </p:nvSpPr>
        <p:spPr>
          <a:xfrm>
            <a:off x="822960" y="5960862"/>
            <a:ext cx="3375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device  |  Down the layers</a:t>
            </a:r>
            <a:endParaRPr lang="en-US" sz="140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77DCC232-D748-CB55-A50B-07AF817AFD0E}"/>
              </a:ext>
            </a:extLst>
          </p:cNvPr>
          <p:cNvSpPr txBox="1"/>
          <p:nvPr/>
        </p:nvSpPr>
        <p:spPr>
          <a:xfrm>
            <a:off x="8577072" y="6004062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device  |  Up the layers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Troubleshooting: the website does not 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D3265"/>
          </a:solidFill>
          <a:ln w="12700">
            <a:solidFill>
              <a:srgbClr val="0D326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IP configuration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ipconfig or ip addr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default gateway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gateway IP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external connectivity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8.8.8.8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DNS resolution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nslookup or dig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destination and routing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468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and router reachability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4160520" y="15544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0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TCP port 443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Blocked, refused or dropped?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4160520" y="24688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6634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firewall rules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Client, network, router, server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4160520" y="33832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605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packets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Wireshark, if still unclear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4160520" y="429768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052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the TCP handshake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4663440" y="4553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SYN, SYN-ACK, ACK or RST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4160520" y="5212080"/>
            <a:ext cx="365760" cy="365760"/>
          </a:xfrm>
          <a:prstGeom prst="ellipse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6052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663440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D3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website again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4663440" y="5468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dirty="0">
                <a:solidFill>
                  <a:srgbClr val="53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fix</a:t>
            </a:r>
            <a:endParaRPr lang="en-US" sz="1125" dirty="0"/>
          </a:p>
        </p:txBody>
      </p:sp>
      <p:sp>
        <p:nvSpPr>
          <p:cNvPr id="47" name="Shape 45"/>
          <p:cNvSpPr/>
          <p:nvPr/>
        </p:nvSpPr>
        <p:spPr>
          <a:xfrm>
            <a:off x="8001000" y="150876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061A33"/>
          </a:solidFill>
          <a:ln w="12700">
            <a:solidFill>
              <a:srgbClr val="061A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handshake</a:t>
            </a:r>
            <a:endParaRPr lang="en-US" sz="1575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SYNs, no SYN-ACK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connectivity, firewall, routing or server issue. Needs further investigation.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B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RST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destination may be refusing the connection.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2296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FD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SYN, SYN-ACK, ACK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8229600" y="4892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 completes, HTTPS/TLS starts and the page loads.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06  /  TCP/IP IN ACTION</a:t>
            </a:r>
            <a:endParaRPr lang="en-US" sz="97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93776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877824" cy="36576"/>
          </a:xfrm>
          <a:prstGeom prst="rect">
            <a:avLst/>
          </a:prstGeom>
          <a:solidFill>
            <a:srgbClr val="07ADF6"/>
          </a:solidFill>
          <a:ln w="12700">
            <a:solidFill>
              <a:srgbClr val="07AD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74536"/>
            <a:ext cx="12188952" cy="283464"/>
          </a:xfrm>
          <a:prstGeom prst="rect">
            <a:avLst/>
          </a:prstGeom>
          <a:solidFill>
            <a:srgbClr val="0A2A52"/>
          </a:solidFill>
          <a:ln w="12700">
            <a:solidFill>
              <a:srgbClr val="0A2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0" y="6629400"/>
            <a:ext cx="594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75" dirty="0"/>
          </a:p>
        </p:txBody>
      </p:sp>
      <p:sp>
        <p:nvSpPr>
          <p:cNvPr id="27" name="Text 25"/>
          <p:cNvSpPr txBox="1"/>
          <p:nvPr/>
        </p:nvSpPr>
        <p:spPr>
          <a:xfrm>
            <a:off x="448616" y="534252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7A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E9EE7E28-E397-BE67-75A9-7408B59EC561}"/>
              </a:ext>
            </a:extLst>
          </p:cNvPr>
          <p:cNvSpPr txBox="1"/>
          <p:nvPr/>
        </p:nvSpPr>
        <p:spPr>
          <a:xfrm>
            <a:off x="448616" y="1405190"/>
            <a:ext cx="10496192" cy="60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Internet Engineering Task Force (IETF). (2022). RFC 9110: HTTP Semantics.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Cisco Networking Academy. Introduction to Networking / TCP/IP Networking Model. Cisco Press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Rescorla, E. (2018). RFC 8446: The Transport Layer Security (TLS) Protocol Version 1.3. IETF.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Mockapetris, P. (1987). RFC 1034: Domain Names – Concepts and Facilities.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Internet Engineering Task Force (IETF), RFC 9293 – Transmission Control Protocol (TCP).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18770" algn="l"/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NIST, Computer Security Resource Center – networking and cybersecurity reference materials.</a:t>
            </a:r>
            <a:endParaRPr lang="en-US" sz="1800" dirty="0">
              <a:solidFill>
                <a:schemeClr val="bg1"/>
              </a:solidFill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1641</Words>
  <Application>Microsoft Office PowerPoint</Application>
  <PresentationFormat>Widescreen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Wisdom Odili</cp:lastModifiedBy>
  <cp:revision>12</cp:revision>
  <dcterms:created xsi:type="dcterms:W3CDTF">2026-10-01T10:39:23Z</dcterms:created>
  <dcterms:modified xsi:type="dcterms:W3CDTF">2026-10-02T08:41:06Z</dcterms:modified>
</cp:coreProperties>
</file>